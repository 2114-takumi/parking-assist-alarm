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mp4" ContentType="video/mp4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/Relationships>
</file>

<file path=ppt/presentation.xml><?xml version="1.0" encoding="utf-8"?>
<!--Generated by Aspose.Slides for .NET 25.1-->
<p:presentation xmlns:r="http://schemas.openxmlformats.org/officeDocument/2006/relationships" xmlns:a="http://schemas.openxmlformats.org/drawingml/2006/main" xmlns:p="http://schemas.openxmlformats.org/presentationml/2006/main" firstSlideNum="0" showSpecialPlsOnTitleSld="0" saveSubsetFonts="1">
  <p:sldMasterIdLst>
    <p:sldMasterId id="2147483843" r:id="rId1"/>
  </p:sldMasterIdLst>
  <p:sldIdLst>
    <p:sldId id="256" r:id="rId3"/>
    <p:sldId id="257" r:id="rId4"/>
    <p:sldId id="259" r:id="rId5"/>
    <p:sldId id="260" r:id="rId6"/>
    <p:sldId id="258" r:id="rId7"/>
  </p:sldIdLst>
  <p:sldSz cx="9144000" cy="6858000" type="screen4x3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59" autoAdjust="0"/>
    <p:restoredTop sz="94660"/>
  </p:normalViewPr>
  <p:slideViewPr>
    <p:cSldViewPr snapToGrid="0">
      <p:cViewPr varScale="1">
        <p:scale>
          <a:sx n="70" d="100"/>
          <a:sy n="70" d="100"/>
        </p:scale>
        <p:origin x="60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viewProps" Target="viewProps.xml" /><Relationship Id="rId11" Type="http://schemas.openxmlformats.org/officeDocument/2006/relationships/theme" Target="theme/theme1.xml" /><Relationship Id="rId12" Type="http://schemas.openxmlformats.org/officeDocument/2006/relationships/tableStyles" Target="tableStyles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tags" Target="tags/tag1.xml" /><Relationship Id="rId9" Type="http://schemas.openxmlformats.org/officeDocument/2006/relationships/presProps" Target="presProp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252000" y="1412776"/>
            <a:ext cx="8640000" cy="1470025"/>
          </a:xfrm>
          <a:noFill/>
        </p:spPr>
        <p:txBody>
          <a:bodyPr>
            <a:normAutofit/>
          </a:bodyPr>
          <a:lstStyle>
            <a:lvl1pPr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2311200" y="3258136"/>
            <a:ext cx="6400800" cy="1752600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F6B420B-D11C-40EA-94DF-B3C2E6113008}"/>
              </a:ext>
            </a:extLst>
          </p:cNvPr>
          <p:cNvSpPr/>
          <p:nvPr/>
        </p:nvSpPr>
        <p:spPr>
          <a:xfrm flipH="1">
            <a:off x="252000" y="2977138"/>
            <a:ext cx="8640000" cy="108000"/>
          </a:xfrm>
          <a:prstGeom prst="rect">
            <a:avLst/>
          </a:prstGeom>
          <a:gradFill>
            <a:gsLst>
              <a:gs pos="40000">
                <a:srgbClr val="CC003E"/>
              </a:gs>
              <a:gs pos="0">
                <a:srgbClr val="CC003E"/>
              </a:gs>
              <a:gs pos="83000">
                <a:srgbClr val="FFD5E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570"/>
          </a:p>
        </p:txBody>
      </p:sp>
    </p:spTree>
    <p:extLst>
      <p:ext uri="{BB962C8B-B14F-4D97-AF65-F5344CB8AC3E}">
        <p14:creationId val="3385913686"/>
      </p:ext>
    </p:extLst>
  </p:cSld>
  <p:clrMapOvr>
    <a:masterClrMapping/>
  </p:clrMapOvr>
  <mc:AlternateContent>
    <mc:Choice xmlns:p14="http://schemas.microsoft.com/office/powerpoint/2010/main" Requires="p14">
      <p:transition p14:dur="10"/>
    </mc:Choice>
    <mc:Fallback>
      <p:transition/>
    </mc:Fallback>
  </mc:AlternateContent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val="249723038"/>
      </p:ext>
    </p:extLst>
  </p:cSld>
  <p:clrMapOvr>
    <a:masterClrMapping/>
  </p:clrMapOvr>
  <mc:AlternateContent>
    <mc:Choice xmlns:p14="http://schemas.microsoft.com/office/powerpoint/2010/main" Requires="p14">
      <p:transition p14:dur="10"/>
    </mc:Choice>
    <mc:Fallback>
      <p:transition/>
    </mc:Fallback>
  </mc:AlternateContent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908720"/>
            <a:ext cx="4038600" cy="521744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908720"/>
            <a:ext cx="4038600" cy="521744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</p:spTree>
    <p:extLst>
      <p:ext uri="{BB962C8B-B14F-4D97-AF65-F5344CB8AC3E}">
        <p14:creationId val="3660193577"/>
      </p:ext>
    </p:extLst>
  </p:cSld>
  <p:clrMapOvr>
    <a:masterClrMapping/>
  </p:clrMapOvr>
  <mc:AlternateContent>
    <mc:Choice xmlns:p14="http://schemas.microsoft.com/office/powerpoint/2010/main" Requires="p14">
      <p:transition p14:dur="10"/>
    </mc:Choice>
    <mc:Fallback>
      <p:transition/>
    </mc:Fallback>
  </mc:AlternateContent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67544" y="980728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1700808"/>
            <a:ext cx="4040188" cy="442535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4008" y="980728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1700808"/>
            <a:ext cx="4041775" cy="442535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</p:spTree>
    <p:extLst>
      <p:ext uri="{BB962C8B-B14F-4D97-AF65-F5344CB8AC3E}">
        <p14:creationId val="1706077130"/>
      </p:ext>
    </p:extLst>
  </p:cSld>
  <p:clrMapOvr>
    <a:masterClrMapping/>
  </p:clrMapOvr>
  <mc:AlternateContent>
    <mc:Choice xmlns:p14="http://schemas.microsoft.com/office/powerpoint/2010/main" Requires="p14">
      <p:transition p14:dur="10"/>
    </mc:Choice>
    <mc:Fallback>
      <p:transition/>
    </mc:Fallback>
  </mc:AlternateContent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val="771613754"/>
      </p:ext>
    </p:extLst>
  </p:cSld>
  <p:clrMapOvr>
    <a:masterClrMapping/>
  </p:clrMapOvr>
  <mc:AlternateContent>
    <mc:Choice xmlns:p14="http://schemas.microsoft.com/office/powerpoint/2010/main" Requires="p14">
      <p:transition p14:dur="10"/>
    </mc:Choice>
    <mc:Fallback>
      <p:transition/>
    </mc:Fallback>
  </mc:AlternateContent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11560" y="116632"/>
            <a:ext cx="7992888" cy="576064"/>
          </a:xfrm>
        </p:spPr>
        <p:txBody>
          <a:bodyPr anchor="b">
            <a:noAutofit/>
          </a:bodyPr>
          <a:lstStyle>
            <a:lvl1pPr algn="l">
              <a:defRPr sz="2800" b="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987824" y="836712"/>
            <a:ext cx="5698976" cy="52894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1" y="836712"/>
            <a:ext cx="2530624" cy="52894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val="1577237355"/>
      </p:ext>
    </p:extLst>
  </p:cSld>
  <p:clrMapOvr>
    <a:masterClrMapping/>
  </p:clrMapOvr>
  <mc:AlternateContent>
    <mc:Choice xmlns:p14="http://schemas.microsoft.com/office/powerpoint/2010/main" Requires="p14">
      <p:transition p14:dur="10"/>
    </mc:Choice>
    <mc:Fallback>
      <p:transition/>
    </mc:Fallback>
  </mc:AlternateContent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val="4012222531"/>
      </p:ext>
    </p:extLst>
  </p:cSld>
  <p:clrMapOvr>
    <a:masterClrMapping/>
  </p:clrMapOvr>
  <mc:AlternateContent>
    <mc:Choice xmlns:p14="http://schemas.microsoft.com/office/powerpoint/2010/main" Requires="p14">
      <p:transition p14:dur="10"/>
    </mc:Choice>
    <mc:Fallback>
      <p:transition/>
    </mc:Fallback>
  </mc:AlternateContent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5107"/>
          </a:xfrm>
          <a:prstGeom prst="rect">
            <a:avLst/>
          </a:prstGeom>
          <a:solidFill>
            <a:srgbClr val="CC003E"/>
          </a:solidFill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-1" y="762000"/>
            <a:ext cx="9144000" cy="5364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442F684-13BE-416E-92D7-989598A17967}"/>
              </a:ext>
            </a:extLst>
          </p:cNvPr>
          <p:cNvSpPr/>
          <p:nvPr userDrawn="1"/>
        </p:nvSpPr>
        <p:spPr>
          <a:xfrm flipH="1">
            <a:off x="-2" y="6584363"/>
            <a:ext cx="9145229" cy="210964"/>
          </a:xfrm>
          <a:prstGeom prst="rect">
            <a:avLst/>
          </a:prstGeom>
          <a:gradFill flip="none" rotWithShape="1">
            <a:gsLst>
              <a:gs pos="77000">
                <a:srgbClr val="CC003E"/>
              </a:gs>
              <a:gs pos="99000">
                <a:schemeClr val="bg1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57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86EE871-F238-4A7B-B540-709ED287FF88}"/>
              </a:ext>
            </a:extLst>
          </p:cNvPr>
          <p:cNvSpPr/>
          <p:nvPr/>
        </p:nvSpPr>
        <p:spPr>
          <a:xfrm flipH="1">
            <a:off x="-1" y="6520580"/>
            <a:ext cx="9145229" cy="63783"/>
          </a:xfrm>
          <a:prstGeom prst="rect">
            <a:avLst/>
          </a:prstGeom>
          <a:gradFill flip="none" rotWithShape="1">
            <a:gsLst>
              <a:gs pos="6900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57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D3FDEB8-34F0-47B4-AB6A-3167C6E36ED8}"/>
              </a:ext>
            </a:extLst>
          </p:cNvPr>
          <p:cNvSpPr/>
          <p:nvPr/>
        </p:nvSpPr>
        <p:spPr>
          <a:xfrm flipH="1">
            <a:off x="-1" y="6794378"/>
            <a:ext cx="9145229" cy="63622"/>
          </a:xfrm>
          <a:prstGeom prst="rect">
            <a:avLst/>
          </a:prstGeom>
          <a:gradFill flip="none" rotWithShape="1">
            <a:gsLst>
              <a:gs pos="6900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57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673623" y="6197239"/>
            <a:ext cx="434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E461910E-AC97-4933-BFAA-B831D073BA06}" type="slidenum">
              <a:rPr kumimoji="1" lang="ja-JP" altLang="en-US" sz="1600" smtClean="0"/>
              <a:t>‹#›</a:t>
            </a:fld>
            <a:endParaRPr kumimoji="1" lang="ja-JP" altLang="en-US" sz="1600"/>
          </a:p>
        </p:txBody>
      </p:sp>
    </p:spTree>
    <p:extLst>
      <p:ext uri="{BB962C8B-B14F-4D97-AF65-F5344CB8AC3E}">
        <p14:creationId val="1404001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7" r:id="rId3"/>
    <p:sldLayoutId id="2147483848" r:id="rId4"/>
    <p:sldLayoutId id="2147483849" r:id="rId5"/>
    <p:sldLayoutId id="2147483851" r:id="rId6"/>
    <p:sldLayoutId id="2147483853" r:id="rId7"/>
  </p:sldLayoutIdLst>
  <mc:AlternateContent>
    <mc:Choice xmlns:p14="http://schemas.microsoft.com/office/powerpoint/2010/main" Requires="p14">
      <p:transition p14:dur="10"/>
    </mc:Choice>
    <mc:Fallback>
      <p:transition/>
    </mc:Fallback>
  </mc:AlternateContent>
  <p:timing/>
  <p:hf hdr="0" ftr="0" dt="0"/>
  <p:txStyles>
    <p:titleStyle>
      <a:lvl1pPr algn="l" defTabSz="914400" rtl="0" eaLnBrk="1" latinLnBrk="0" hangingPunct="1">
        <a:spcBef>
          <a:spcPct val="0"/>
        </a:spcBef>
        <a:buNone/>
        <a:defRPr kumimoji="1" sz="3200" b="1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46088" indent="-446088" algn="l" defTabSz="914400" rtl="0" eaLnBrk="1" latinLnBrk="0" hangingPunct="1">
        <a:spcBef>
          <a:spcPct val="20000"/>
        </a:spcBef>
        <a:buClr>
          <a:srgbClr val="CC003E"/>
        </a:buClr>
        <a:buFont typeface="Wingdings" panose="05000000000000000000" pitchFamily="2" charset="2"/>
        <a:buChar char="n"/>
        <a:defRPr kumimoji="1" sz="32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804863" indent="-347663" algn="l" defTabSz="914400" rtl="0" eaLnBrk="1" latinLnBrk="0" hangingPunct="1">
        <a:spcBef>
          <a:spcPct val="20000"/>
        </a:spcBef>
        <a:buClr>
          <a:srgbClr val="CC003E"/>
        </a:buClr>
        <a:buFont typeface="Wingdings" panose="05000000000000000000" pitchFamily="2" charset="2"/>
        <a:buChar char="ü"/>
        <a:defRPr kumimoji="1" sz="28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252538" indent="-360363" algn="l" defTabSz="914400" rtl="0" eaLnBrk="1" latinLnBrk="0" hangingPunct="1">
        <a:spcBef>
          <a:spcPct val="20000"/>
        </a:spcBef>
        <a:buClr>
          <a:srgbClr val="CC003E"/>
        </a:buClr>
        <a:buFont typeface="Wingdings" panose="05000000000000000000" pitchFamily="2" charset="2"/>
        <a:buChar char="u"/>
        <a:defRPr kumimoji="1" sz="2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98625" indent="-327025" algn="l" defTabSz="914400" rtl="0" eaLnBrk="1" latinLnBrk="0" hangingPunct="1">
        <a:spcBef>
          <a:spcPct val="20000"/>
        </a:spcBef>
        <a:buClr>
          <a:srgbClr val="CC003E"/>
        </a:buClr>
        <a:buFont typeface="Wingdings" panose="05000000000000000000" pitchFamily="2" charset="2"/>
        <a:buChar char="l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286000" indent="-457200" algn="l" defTabSz="914400" rtl="0" eaLnBrk="1" latinLnBrk="0" hangingPunct="1">
        <a:spcBef>
          <a:spcPct val="20000"/>
        </a:spcBef>
        <a:buClr>
          <a:srgbClr val="CC003E"/>
        </a:buClr>
        <a:buFont typeface="Wingdings" panose="05000000000000000000" pitchFamily="2" charset="2"/>
        <a:buChar char="Ø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3" Type="http://schemas.openxmlformats.org/officeDocument/2006/relationships/image" Target="../media/image2.jpeg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3" Type="http://schemas.openxmlformats.org/officeDocument/2006/relationships/image" Target="../media/image3.png" /><Relationship Id="rId4" Type="http://schemas.openxmlformats.org/officeDocument/2006/relationships/image" Target="../media/image4.png" /><Relationship Id="rId5" Type="http://schemas.openxmlformats.org/officeDocument/2006/relationships/video" Target="../media/media1.mp4" /><Relationship Id="rId6" Type="http://schemas.microsoft.com/office/2007/relationships/media" Target="../media/media1.mp4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A94D13-F919-438E-B5ED-F6284F94FF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kumimoji="1" lang="ja-JP" altLang="en-US"/>
              <a:t>駐車アラートシステム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BF798D1-567D-4B99-84D7-4A02565AF8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　坂巻拓海　</a:t>
            </a:r>
            <a:r>
              <a:rPr kumimoji="1" lang="ja-JP" altLang="en-US"/>
              <a:t>　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8322519-A9CE-470B-BF8C-75B6751F7A18}"/>
              </a:ext>
            </a:extLst>
          </p:cNvPr>
          <p:cNvSpPr txBox="1"/>
          <p:nvPr/>
        </p:nvSpPr>
        <p:spPr>
          <a:xfrm>
            <a:off x="3325505" y="102268"/>
            <a:ext cx="24929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電気電子工学セミナー</a:t>
            </a:r>
            <a:endParaRPr lang="en-US" altLang="ja-JP"/>
          </a:p>
          <a:p>
            <a:pPr algn="ctr"/>
            <a:r>
              <a:rPr kumimoji="1" lang="ja-JP" altLang="en-US"/>
              <a:t>成果報告会</a:t>
            </a:r>
            <a:endParaRPr kumimoji="1" lang="en-US" altLang="ja-JP"/>
          </a:p>
          <a:p>
            <a:pPr algn="ctr"/>
            <a:r>
              <a:rPr lang="en-US" altLang="ja-JP"/>
              <a:t>2025.7.28(Mon)</a:t>
            </a:r>
            <a:endParaRPr kumimoji="1" lang="ja-JP" altLang="en-US"/>
          </a:p>
        </p:txBody>
      </p:sp>
      <p:pic>
        <p:nvPicPr>
          <p:cNvPr id="11" name="図 10" descr="テーブル, 座る, ブルー, 車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03CC838-C412-6CB6-B260-16867F9FD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845" y="3845798"/>
            <a:ext cx="4322771" cy="1997265"/>
          </a:xfrm>
          <a:prstGeom prst="rect">
            <a:avLst/>
          </a:prstGeom>
        </p:spPr>
      </p:pic>
    </p:spTree>
    <p:extLst>
      <p:ext uri="{BB962C8B-B14F-4D97-AF65-F5344CB8AC3E}">
        <p14:creationId val="2658520256"/>
      </p:ext>
    </p:extLst>
  </p:cSld>
  <p:clrMapOvr>
    <a:masterClrMapping/>
  </p:clrMapOvr>
  <mc:AlternateContent>
    <mc:Choice xmlns:p14="http://schemas.microsoft.com/office/powerpoint/2010/main" Requires="p14">
      <p:transition p14:dur="10"/>
    </mc:Choice>
    <mc:Fallback>
      <p:transition/>
    </mc:Fallback>
  </mc:AlternateContent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7004E7-2AAA-498F-9AE5-189205DA0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5107"/>
          </a:xfrm>
        </p:spPr>
        <p:txBody>
          <a:bodyPr anchor="b">
            <a:normAutofit/>
          </a:bodyPr>
          <a:lstStyle/>
          <a:p>
            <a:r>
              <a:rPr kumimoji="1" lang="ja-JP" altLang="en-US"/>
              <a:t>①製作物の概要説明</a:t>
            </a:r>
            <a:r>
              <a:rPr lang="ja-JP" altLang="en-US"/>
              <a:t>（</a:t>
            </a:r>
            <a:r>
              <a:rPr lang="en-US" altLang="ja-JP"/>
              <a:t>1/2</a:t>
            </a:r>
            <a:r>
              <a:rPr lang="ja-JP" altLang="en-US"/>
              <a:t>）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91DFEF-A2BC-4FF9-9741-577A2DECF6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908720"/>
            <a:ext cx="4038600" cy="5345776"/>
          </a:xfrm>
        </p:spPr>
        <p:txBody>
          <a:bodyPr>
            <a:normAutofit/>
          </a:bodyPr>
          <a:lstStyle/>
          <a:p>
            <a:r>
              <a:rPr lang="ja-JP" altLang="en-US" sz="3200"/>
              <a:t>使用した部品</a:t>
            </a:r>
            <a:endParaRPr lang="en-US" altLang="ja-JP" sz="3200"/>
          </a:p>
          <a:p>
            <a:pPr marL="0" indent="0">
              <a:buNone/>
            </a:pPr>
            <a:r>
              <a:rPr lang="en-US" altLang="ja-JP" sz="3000"/>
              <a:t>【</a:t>
            </a:r>
            <a:r>
              <a:rPr lang="ja-JP" altLang="en-US" sz="3000"/>
              <a:t>センサー</a:t>
            </a:r>
            <a:r>
              <a:rPr lang="en-US" altLang="ja-JP" sz="3000"/>
              <a:t>】</a:t>
            </a:r>
          </a:p>
          <a:p>
            <a:pPr marL="0" indent="0">
              <a:buNone/>
            </a:pPr>
            <a:r>
              <a:rPr lang="ja-JP" altLang="en-US" sz="3000"/>
              <a:t>超音波距離センサー（</a:t>
            </a:r>
            <a:r>
              <a:rPr lang="en-US" altLang="ja-JP" sz="3000"/>
              <a:t>HC-SR04</a:t>
            </a:r>
            <a:r>
              <a:rPr lang="ja-JP" altLang="en-US" sz="3000"/>
              <a:t>）</a:t>
            </a:r>
            <a:endParaRPr lang="en-US" altLang="ja-JP" sz="3000"/>
          </a:p>
          <a:p>
            <a:pPr marL="0" indent="0">
              <a:buNone/>
            </a:pPr>
            <a:endParaRPr lang="en-US" altLang="ja-JP" sz="1600"/>
          </a:p>
          <a:p>
            <a:pPr marL="0" indent="0">
              <a:buNone/>
            </a:pPr>
            <a:r>
              <a:rPr lang="en-US" altLang="ja-JP" sz="3000"/>
              <a:t>【</a:t>
            </a:r>
            <a:r>
              <a:rPr lang="ja-JP" altLang="en-US" sz="3000"/>
              <a:t>スピーカー</a:t>
            </a:r>
            <a:r>
              <a:rPr lang="en-US" altLang="ja-JP" sz="3000"/>
              <a:t>】</a:t>
            </a:r>
          </a:p>
          <a:p>
            <a:pPr marL="0" indent="0">
              <a:buNone/>
            </a:pPr>
            <a:r>
              <a:rPr lang="ja-JP" altLang="en-US" sz="3000"/>
              <a:t>圧電サウンダ</a:t>
            </a:r>
            <a:r>
              <a:rPr lang="en-US" altLang="ja-JP" sz="3000"/>
              <a:t>(P123078-R2)</a:t>
            </a:r>
          </a:p>
          <a:p>
            <a:pPr marL="0" indent="0">
              <a:buNone/>
            </a:pPr>
            <a:endParaRPr lang="en-US" altLang="ja-JP" sz="1600"/>
          </a:p>
          <a:p>
            <a:pPr marL="0" indent="0">
              <a:buNone/>
            </a:pPr>
            <a:r>
              <a:rPr lang="en-US" altLang="ja-JP" sz="3000"/>
              <a:t>【LED】</a:t>
            </a:r>
            <a:r>
              <a:rPr lang="ja-JP" altLang="en-US" sz="3000"/>
              <a:t>赤</a:t>
            </a:r>
            <a:r>
              <a:rPr lang="en-US" altLang="ja-JP" sz="3000"/>
              <a:t>(5mmφ)</a:t>
            </a:r>
            <a:r>
              <a:rPr lang="ja-JP" altLang="en-US" sz="3000"/>
              <a:t> </a:t>
            </a:r>
            <a:r>
              <a:rPr lang="en-US" altLang="ja-JP" sz="3000"/>
              <a:t>OSDR5113A</a:t>
            </a:r>
          </a:p>
          <a:p>
            <a:pPr marL="0" indent="0">
              <a:buNone/>
            </a:pPr>
            <a:endParaRPr kumimoji="1" lang="en-US" altLang="ja-JP"/>
          </a:p>
          <a:p>
            <a:pPr marL="0" indent="0">
              <a:buNone/>
            </a:pPr>
            <a:endParaRPr kumimoji="1" lang="en-US" altLang="ja-JP"/>
          </a:p>
          <a:p>
            <a:pPr marL="0" indent="0">
              <a:buNone/>
            </a:pPr>
            <a:endParaRPr kumimoji="1" lang="ja-JP" altLang="en-US"/>
          </a:p>
        </p:txBody>
      </p:sp>
      <p:pic>
        <p:nvPicPr>
          <p:cNvPr id="11" name="図 10" descr="電子機器, 回路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453109E-90B0-1A0E-DC5D-6612768E7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792599" y="1233726"/>
            <a:ext cx="3408425" cy="4544567"/>
          </a:xfrm>
          <a:prstGeom prst="rect">
            <a:avLst/>
          </a:prstGeom>
          <a:noFill/>
        </p:spPr>
      </p:pic>
    </p:spTree>
    <p:extLst>
      <p:ext uri="{BB962C8B-B14F-4D97-AF65-F5344CB8AC3E}">
        <p14:creationId val="14821239"/>
      </p:ext>
    </p:extLst>
  </p:cSld>
  <p:clrMapOvr>
    <a:masterClrMapping/>
  </p:clrMapOvr>
  <mc:AlternateContent>
    <mc:Choice xmlns:p14="http://schemas.microsoft.com/office/powerpoint/2010/main" Requires="p14">
      <p:transition p14:dur="10"/>
    </mc:Choice>
    <mc:Fallback>
      <p:transition/>
    </mc:Fallback>
  </mc:AlternateContent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398835-6435-432E-AC67-FD5112842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5107"/>
          </a:xfrm>
        </p:spPr>
        <p:txBody>
          <a:bodyPr anchor="b">
            <a:normAutofit/>
          </a:bodyPr>
          <a:lstStyle/>
          <a:p>
            <a:r>
              <a:rPr lang="ja-JP" altLang="en-US"/>
              <a:t>①製作物の概要説明（</a:t>
            </a:r>
            <a:r>
              <a:rPr lang="en-US" altLang="ja-JP"/>
              <a:t>2/2</a:t>
            </a:r>
            <a:r>
              <a:rPr lang="ja-JP" altLang="en-US"/>
              <a:t>）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00D773-3F54-4A84-8622-B2C9D5531B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908720"/>
            <a:ext cx="8522208" cy="2876896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kumimoji="1" lang="ja-JP" altLang="en-US" sz="3200"/>
              <a:t>システム構成</a:t>
            </a:r>
            <a:endParaRPr kumimoji="1" lang="en-US" altLang="ja-JP" sz="1700"/>
          </a:p>
          <a:p>
            <a:pPr marL="0" indent="0">
              <a:lnSpc>
                <a:spcPct val="90000"/>
              </a:lnSpc>
              <a:buNone/>
            </a:pPr>
            <a:r>
              <a:rPr lang="en-US" altLang="ja-JP" sz="3000"/>
              <a:t>【</a:t>
            </a:r>
            <a:r>
              <a:rPr lang="ja-JP" altLang="en-US" sz="3000"/>
              <a:t>入力</a:t>
            </a:r>
            <a:r>
              <a:rPr lang="en-US" altLang="ja-JP" sz="3000"/>
              <a:t>】</a:t>
            </a:r>
            <a:r>
              <a:rPr lang="ja-JP" altLang="en-US" sz="3000"/>
              <a:t>超音波センサー</a:t>
            </a:r>
            <a:endParaRPr lang="en-US" altLang="ja-JP" sz="3000"/>
          </a:p>
          <a:p>
            <a:pPr marL="0" indent="0">
              <a:lnSpc>
                <a:spcPct val="90000"/>
              </a:lnSpc>
              <a:buNone/>
            </a:pPr>
            <a:r>
              <a:rPr lang="ja-JP" altLang="en-US" sz="3000"/>
              <a:t>　障害物までの距離を測定</a:t>
            </a:r>
            <a:endParaRPr lang="en-US" altLang="ja-JP" sz="3000"/>
          </a:p>
          <a:p>
            <a:pPr marL="0" indent="0">
              <a:lnSpc>
                <a:spcPct val="90000"/>
              </a:lnSpc>
              <a:buNone/>
            </a:pPr>
            <a:r>
              <a:rPr lang="en-US" altLang="ja-JP" sz="3000"/>
              <a:t>【</a:t>
            </a:r>
            <a:r>
              <a:rPr lang="ja-JP" altLang="en-US" sz="3000"/>
              <a:t>制御</a:t>
            </a:r>
            <a:r>
              <a:rPr lang="en-US" altLang="ja-JP" sz="3000"/>
              <a:t>】</a:t>
            </a:r>
            <a:r>
              <a:rPr lang="ja-JP" altLang="en-US" sz="3000"/>
              <a:t>マイコン</a:t>
            </a:r>
            <a:endParaRPr lang="en-US" altLang="ja-JP" sz="3000"/>
          </a:p>
          <a:p>
            <a:pPr marL="0" indent="0">
              <a:lnSpc>
                <a:spcPct val="90000"/>
              </a:lnSpc>
              <a:buNone/>
            </a:pPr>
            <a:r>
              <a:rPr lang="ja-JP" altLang="en-US" sz="3000"/>
              <a:t>　測定された距離をもとに警告レベルを判断</a:t>
            </a:r>
            <a:endParaRPr lang="en-US" altLang="ja-JP" sz="3000"/>
          </a:p>
          <a:p>
            <a:pPr marL="0" indent="0">
              <a:lnSpc>
                <a:spcPct val="90000"/>
              </a:lnSpc>
              <a:buNone/>
            </a:pPr>
            <a:r>
              <a:rPr lang="en-US" altLang="ja-JP" sz="3000"/>
              <a:t>【</a:t>
            </a:r>
            <a:r>
              <a:rPr lang="ja-JP" altLang="en-US" sz="3000"/>
              <a:t>出力</a:t>
            </a:r>
            <a:r>
              <a:rPr lang="en-US" altLang="ja-JP" sz="3000"/>
              <a:t>】</a:t>
            </a:r>
            <a:r>
              <a:rPr lang="ja-JP" altLang="en-US" sz="3000"/>
              <a:t>圧電サウンダ</a:t>
            </a:r>
            <a:r>
              <a:rPr lang="en-US" altLang="ja-JP" sz="3000"/>
              <a:t>,LED</a:t>
            </a:r>
            <a:r>
              <a:rPr lang="ja-JP" altLang="en-US" sz="3000"/>
              <a:t>　判断結果に応じて警告</a:t>
            </a:r>
            <a:endParaRPr kumimoji="1" lang="en-US" altLang="ja-JP" sz="3000"/>
          </a:p>
          <a:p>
            <a:pPr marL="0" indent="0">
              <a:lnSpc>
                <a:spcPct val="90000"/>
              </a:lnSpc>
              <a:buNone/>
            </a:pPr>
            <a:endParaRPr lang="en-US" altLang="ja-JP" sz="2600"/>
          </a:p>
        </p:txBody>
      </p:sp>
      <p:pic>
        <p:nvPicPr>
          <p:cNvPr id="17" name="図 16" descr="ホワイトボードに書かれた文字&#10;&#10;AI 生成コンテンツは誤りを含む可能性があります。">
            <a:extLst>
              <a:ext uri="{FF2B5EF4-FFF2-40B4-BE49-F238E27FC236}">
                <a16:creationId xmlns:a16="http://schemas.microsoft.com/office/drawing/2014/main" id="{AB8F0065-B009-CFEC-6325-85155C9D29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902" y="3849624"/>
            <a:ext cx="4626346" cy="2509791"/>
          </a:xfrm>
          <a:prstGeom prst="rect">
            <a:avLst/>
          </a:prstGeom>
          <a:noFill/>
        </p:spPr>
      </p:pic>
      <p:pic>
        <p:nvPicPr>
          <p:cNvPr id="18" name="IMG_9520">
            <a:hlinkClick action="ppaction://media"/>
            <a:extLst>
              <a:ext uri="{FF2B5EF4-FFF2-40B4-BE49-F238E27FC236}">
                <a16:creationId xmlns:a16="http://schemas.microsoft.com/office/drawing/2014/main" id="{4AA178A5-D0DC-6EA6-04AC-3AF1F810B171}"/>
              </a:ext>
            </a:extLst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r:embed="rId6"/>
              </p:ext>
            </p:extLst>
          </p:nvPr>
        </p:nvPicPr>
        <p:blipFill>
          <a:blip r:embed="rId4"/>
          <a:stretch>
            <a:fillRect/>
          </a:stretch>
        </p:blipFill>
        <p:spPr>
          <a:xfrm rot="10800000">
            <a:off x="6985498" y="5560315"/>
            <a:ext cx="1554480" cy="799100"/>
          </a:xfrm>
          <a:prstGeom prst="rect">
            <a:avLst/>
          </a:prstGeom>
        </p:spPr>
      </p:pic>
    </p:spTree>
    <p:extLst>
      <p:ext uri="{BB962C8B-B14F-4D97-AF65-F5344CB8AC3E}">
        <p14:creationId val="976756431"/>
      </p:ext>
    </p:extLst>
  </p:cSld>
  <p:clrMapOvr>
    <a:masterClrMapping/>
  </p:clrMapOvr>
  <mc:AlternateContent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708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B4B7EE-C5F9-DD8E-A5B8-9AE7FA5B8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②工夫した点、アピールポイント（</a:t>
            </a:r>
            <a:r>
              <a:rPr lang="en-US" altLang="ja-JP"/>
              <a:t>1/2</a:t>
            </a:r>
            <a:r>
              <a:rPr lang="ja-JP" altLang="en-US"/>
              <a:t>）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A017C5-42CC-999C-295F-D2E92CED8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レジスタを考慮したプログラム</a:t>
            </a:r>
            <a:endParaRPr lang="en-US" altLang="ja-JP"/>
          </a:p>
          <a:p>
            <a:pPr marL="0" indent="0">
              <a:buNone/>
            </a:pPr>
            <a:r>
              <a:rPr lang="ja-JP" altLang="en-US"/>
              <a:t>・メモリの使用量→変数の大きさを意識</a:t>
            </a:r>
            <a:endParaRPr lang="en-US" altLang="ja-JP"/>
          </a:p>
          <a:p>
            <a:pPr marL="0" indent="0">
              <a:buNone/>
            </a:pPr>
            <a:endParaRPr lang="en-US" altLang="ja-JP"/>
          </a:p>
          <a:p>
            <a:pPr marL="0" indent="0">
              <a:buNone/>
            </a:pPr>
            <a:r>
              <a:rPr lang="ja-JP" altLang="en-US"/>
              <a:t>ビープ音の周波数、ビープ音の長さ（ミリ秒）</a:t>
            </a:r>
            <a:endParaRPr lang="en-US" altLang="ja-JP"/>
          </a:p>
          <a:p>
            <a:pPr marL="0" indent="0">
              <a:buNone/>
            </a:pPr>
            <a:r>
              <a:rPr lang="ja-JP" altLang="en-US"/>
              <a:t>　➡　</a:t>
            </a:r>
            <a:r>
              <a:rPr lang="en-US" altLang="ja-JP"/>
              <a:t>unsigned int</a:t>
            </a:r>
          </a:p>
          <a:p>
            <a:pPr marL="0" indent="0">
              <a:buNone/>
            </a:pPr>
            <a:endParaRPr lang="en-US" altLang="ja-JP"/>
          </a:p>
          <a:p>
            <a:pPr marL="0" indent="0">
              <a:buNone/>
            </a:pPr>
            <a:r>
              <a:rPr lang="ja-JP" altLang="en-US"/>
              <a:t>超音波センサが測定する時間（マイクロ秒）</a:t>
            </a:r>
            <a:endParaRPr lang="en-US" altLang="ja-JP"/>
          </a:p>
          <a:p>
            <a:pPr marL="0" indent="0">
              <a:buNone/>
            </a:pPr>
            <a:r>
              <a:rPr lang="ja-JP" altLang="en-US"/>
              <a:t>　➡　</a:t>
            </a:r>
            <a:r>
              <a:rPr lang="en-US" altLang="ja-JP"/>
              <a:t>unsigned long </a:t>
            </a:r>
          </a:p>
          <a:p>
            <a:pPr marL="0" indent="0">
              <a:buNone/>
            </a:pPr>
            <a:endParaRPr lang="en-US" altLang="ja-JP" sz="2800"/>
          </a:p>
          <a:p>
            <a:pPr marL="0" indent="0">
              <a:buNone/>
            </a:pPr>
            <a:endParaRPr lang="en-US" altLang="ja-JP" sz="2800"/>
          </a:p>
        </p:txBody>
      </p:sp>
    </p:spTree>
    <p:extLst>
      <p:ext uri="{BB962C8B-B14F-4D97-AF65-F5344CB8AC3E}">
        <p14:creationId val="2660577036"/>
      </p:ext>
    </p:extLst>
  </p:cSld>
  <p:clrMapOvr>
    <a:masterClrMapping/>
  </p:clrMapOvr>
  <mc:AlternateContent>
    <mc:Choice xmlns:p14="http://schemas.microsoft.com/office/powerpoint/2010/main" Requires="p14">
      <p:transition p14:dur="10"/>
    </mc:Choice>
    <mc:Fallback>
      <p:transition/>
    </mc:Fallback>
  </mc:AlternateContent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A02B65-B8B3-43E6-AA6A-0DD201A15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②</a:t>
            </a:r>
            <a:r>
              <a:rPr kumimoji="1" lang="ja-JP" altLang="en-US"/>
              <a:t>工夫した点、アピールポイント</a:t>
            </a:r>
            <a:r>
              <a:rPr lang="ja-JP" altLang="en-US"/>
              <a:t>（</a:t>
            </a:r>
            <a:r>
              <a:rPr lang="en-US" altLang="ja-JP"/>
              <a:t>2/2</a:t>
            </a:r>
            <a:r>
              <a:rPr lang="ja-JP" altLang="en-US"/>
              <a:t>）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651867-C2FC-4CC9-84A2-140BDD5F6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独自関数の実装による問題解決</a:t>
            </a:r>
            <a:endParaRPr kumimoji="1" lang="en-US" altLang="ja-JP"/>
          </a:p>
          <a:p>
            <a:pPr marL="0" indent="0">
              <a:buNone/>
            </a:pPr>
            <a:r>
              <a:rPr kumimoji="1" lang="ja-JP" altLang="en-US"/>
              <a:t>　</a:t>
            </a:r>
            <a:endParaRPr kumimoji="1" lang="en-US" altLang="ja-JP"/>
          </a:p>
          <a:p>
            <a:pPr marL="0" indent="0">
              <a:buNone/>
            </a:pPr>
            <a:r>
              <a:rPr lang="en-US" altLang="ja-JP"/>
              <a:t>_delay_us()</a:t>
            </a:r>
            <a:r>
              <a:rPr lang="ja-JP" altLang="en-US"/>
              <a:t>関数：マクロ　引数に変数をとれない</a:t>
            </a:r>
            <a:endParaRPr lang="en-US" altLang="ja-JP"/>
          </a:p>
          <a:p>
            <a:pPr marL="0" indent="0">
              <a:buNone/>
            </a:pPr>
            <a:r>
              <a:rPr lang="ja-JP" altLang="en-US"/>
              <a:t>　　</a:t>
            </a:r>
            <a:r>
              <a:rPr lang="en-US" altLang="ja-JP"/>
              <a:t>  </a:t>
            </a:r>
            <a:r>
              <a:rPr lang="ja-JP" altLang="en-US"/>
              <a:t>→</a:t>
            </a:r>
            <a:r>
              <a:rPr kumimoji="1" lang="ja-JP" altLang="en-US"/>
              <a:t> 　周波数に応じたビープ音を鳴らせない</a:t>
            </a:r>
            <a:endParaRPr kumimoji="1" lang="en-US" altLang="ja-JP"/>
          </a:p>
          <a:p>
            <a:pPr marL="0" indent="0">
              <a:buNone/>
            </a:pPr>
            <a:r>
              <a:rPr lang="ja-JP" altLang="en-US"/>
              <a:t>　　　　　➡</a:t>
            </a:r>
            <a:r>
              <a:rPr kumimoji="1" lang="ja-JP" altLang="en-US"/>
              <a:t>　</a:t>
            </a:r>
            <a:r>
              <a:rPr lang="en-US" altLang="ja-JP" err="1">
                <a:highlight>
                  <a:srgbClr val="FFFF00"/>
                </a:highlight>
              </a:rPr>
              <a:t>variable_delay_us() </a:t>
            </a:r>
            <a:r>
              <a:rPr kumimoji="1" lang="ja-JP" altLang="en-US"/>
              <a:t>　</a:t>
            </a:r>
            <a:endParaRPr kumimoji="1" lang="en-US" altLang="ja-JP"/>
          </a:p>
          <a:p>
            <a:pPr marL="0" indent="0">
              <a:buNone/>
            </a:pPr>
            <a:r>
              <a:rPr lang="ja-JP" altLang="en-US"/>
              <a:t>　　　　　　　　　　↓</a:t>
            </a:r>
            <a:r>
              <a:rPr kumimoji="1" lang="ja-JP" altLang="en-US"/>
              <a:t>　　　　　　　　　</a:t>
            </a:r>
            <a:endParaRPr kumimoji="1" lang="en-US" altLang="ja-JP"/>
          </a:p>
          <a:p>
            <a:pPr marL="0" indent="0">
              <a:buNone/>
            </a:pPr>
            <a:r>
              <a:rPr lang="en-US" altLang="ja-JP" sz="2800">
                <a:highlight>
                  <a:srgbClr val="FFFF00"/>
                </a:highlight>
              </a:rPr>
              <a:t>beep()</a:t>
            </a:r>
            <a:r>
              <a:rPr lang="en-US" altLang="ja-JP" sz="2800"/>
              <a:t> </a:t>
            </a:r>
            <a:r>
              <a:rPr lang="ja-JP" altLang="en-US" sz="2800"/>
              <a:t>　引数：（ビープ音の周波数、ビープ音の長さ）</a:t>
            </a:r>
            <a:endParaRPr lang="en-US" altLang="ja-JP" sz="2800"/>
          </a:p>
          <a:p>
            <a:pPr marL="0" indent="0">
              <a:buNone/>
            </a:pPr>
            <a:r>
              <a:rPr lang="ja-JP" altLang="en-US" sz="2800"/>
              <a:t>　　　　に合わせたビープ音を鳴らす関数</a:t>
            </a:r>
            <a:endParaRPr lang="en-US" altLang="ja-JP" sz="2800"/>
          </a:p>
        </p:txBody>
      </p:sp>
    </p:spTree>
    <p:extLst>
      <p:ext uri="{BB962C8B-B14F-4D97-AF65-F5344CB8AC3E}">
        <p14:creationId val="2428212515"/>
      </p:ext>
    </p:extLst>
  </p:cSld>
  <p:clrMapOvr>
    <a:masterClrMapping/>
  </p:clrMapOvr>
  <mc:AlternateContent>
    <mc:Choice xmlns:p14="http://schemas.microsoft.com/office/powerpoint/2010/main" Requires="p14">
      <p:transition p14:dur="10"/>
    </mc:Choice>
    <mc:Fallback>
      <p:transition/>
    </mc:Fallback>
  </mc:AlternateContent>
  <p:timing/>
</p:sld>
</file>

<file path=ppt/tags/tag1.xml><?xml version="1.0" encoding="utf-8"?>
<p:tagLst xmlns:p="http://schemas.openxmlformats.org/presentationml/2006/main">
  <p:tag name="AS_NET" val="6.0.33"/>
  <p:tag name="AS_OS" val="Microsoft Windows NT 10.0.20348.0"/>
  <p:tag name="AS_RELEASE_DATE" val="2025.01.14"/>
  <p:tag name="AS_TITLE" val="Aspose.Slides for .NET6"/>
  <p:tag name="AS_VERSION" val="25.1"/>
</p:tagLst>
</file>

<file path=ppt/theme/theme1.xml><?xml version="1.0" encoding="utf-8"?>
<a:theme xmlns:r="http://schemas.openxmlformats.org/officeDocument/2006/relationships" xmlns:a="http://schemas.openxmlformats.org/drawingml/2006/main" name="Template5_Chiba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2">
      <a:majorFont>
        <a:latin typeface="Segoe UI"/>
        <a:ea typeface="メイリオ"/>
        <a:cs typeface="Arial"/>
      </a:majorFont>
      <a:minorFont>
        <a:latin typeface="Segoe UI"/>
        <a:ea typeface="メイリオ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Template5_Chiba" id="{665F8694-3D2A-4E0B-B0CE-056B111CA200}" vid="{AB0337E0-0DDC-4B4C-B6E3-D78E862D9452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游ゴシック Light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游ゴシック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Template>Template5_Chiba(4_3)</Template>
  <Company/>
  <PresentationFormat>On-screen Show (4:3)</PresentationFormat>
  <Paragraphs>35</Paragraphs>
  <Slides>5</Slides>
  <Notes>0</Notes>
  <TotalTime>19745</TotalTime>
  <HiddenSlides>0</HiddenSlides>
  <MMClips>1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13">
      <vt:lpstr>Arial</vt:lpstr>
      <vt:lpstr>Segoe UI</vt:lpstr>
      <vt:lpstr>メイリオ</vt:lpstr>
      <vt:lpstr>Wingdings</vt:lpstr>
      <vt:lpstr>Calibri</vt:lpstr>
      <vt:lpstr>游ゴシック Light</vt:lpstr>
      <vt:lpstr>游ゴシック</vt:lpstr>
      <vt:lpstr>Template5_Chiba</vt:lpstr>
      <vt:lpstr>駐車アラートシステム</vt:lpstr>
      <vt:lpstr>①製作物の概要説明（1/2）</vt:lpstr>
      <vt:lpstr>①製作物の概要説明（2/2）</vt:lpstr>
      <vt:lpstr>②工夫した点、アピールポイント（1/2）</vt:lpstr>
      <vt:lpstr>②工夫した点、アピールポイント（2/2）</vt:lpstr>
    </vt:vector>
  </TitlesOfParts>
  <LinksUpToDate>0</LinksUpToDate>
  <SharedDoc>0</SharedDoc>
  <HyperlinksChanged>0</HyperlinksChanged>
  <Application>Aspose.Slides for .NET</Application>
  <AppVersion>25.0100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プレゼンテーション</dc:title>
  <cp:revision>22</cp:revision>
  <dcterms:created xsi:type="dcterms:W3CDTF">2022-07-01T05:20:08Z</dcterms:created>
  <dcterms:modified xsi:type="dcterms:W3CDTF">2025-07-31T06:04:52Z</dcterms:modified>
</cp:coreProperties>
</file>